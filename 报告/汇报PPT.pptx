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-3802" y="-2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94484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综合拓展任务一：上位机与输入规格扩展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27863" y="3291840"/>
            <a:ext cx="49359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0A4AE"/>
                </a:solidFill>
              </a:defRPr>
            </a:pPr>
            <a:r>
              <a:rPr dirty="0" err="1"/>
              <a:t>支持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Cascadia Code" panose="020B0609020000020004" pitchFamily="49" charset="0"/>
              </a:rPr>
              <a:t>多</a:t>
            </a:r>
            <a:r>
              <a:rPr dirty="0" err="1"/>
              <a:t>分辨率及多种输入来源的图像处理系统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07080"/>
                </a:solidFill>
              </a:defRPr>
            </a:pPr>
            <a:r>
              <a:t>ZYNQ7020 图像处理课程设计 · 综合拓展任务一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扩展题目与背景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总体设计方案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上位机代码修改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PS端代码修改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PL端代码修改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BRAM地址布局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仿真验证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实验结果图片展示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修改文件汇总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团队成员分工</a:t>
            </a:r>
            <a:endParaRPr sz="1600"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总结与展望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扩展题目与背景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lang="en-US" dirty="0"/>
              <a:t>  </a:t>
            </a:r>
            <a:r>
              <a:rPr dirty="0" err="1"/>
              <a:t>基于</a:t>
            </a:r>
            <a:r>
              <a:rPr dirty="0"/>
              <a:t> sobel_05_pc_control_display </a:t>
            </a:r>
            <a:r>
              <a:rPr dirty="0" err="1"/>
              <a:t>的上位机与输入规格扩展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原始要求</a:t>
            </a:r>
            <a:r>
              <a:rPr dirty="0"/>
              <a:t>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修改</a:t>
            </a:r>
            <a:r>
              <a:rPr dirty="0"/>
              <a:t> </a:t>
            </a:r>
            <a:r>
              <a:rPr dirty="0" err="1"/>
              <a:t>host_camera_uart，支持更多输入来源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支持选择目标输入尺寸（128×72 及至少1种新处理尺寸）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设计不同尺寸输入图像进入</a:t>
            </a:r>
            <a:r>
              <a:rPr dirty="0"/>
              <a:t> FPGA </a:t>
            </a:r>
            <a:r>
              <a:rPr dirty="0" err="1"/>
              <a:t>的方案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保持</a:t>
            </a:r>
            <a:r>
              <a:rPr dirty="0"/>
              <a:t> sobel_05 </a:t>
            </a:r>
            <a:r>
              <a:rPr dirty="0" err="1"/>
              <a:t>原有显示控制命令可用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我们的方案</a:t>
            </a:r>
            <a:r>
              <a:rPr dirty="0"/>
              <a:t>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新增</a:t>
            </a:r>
            <a:r>
              <a:rPr dirty="0"/>
              <a:t> 128×80 </a:t>
            </a:r>
            <a:r>
              <a:rPr dirty="0" err="1"/>
              <a:t>处理尺寸，与原有</a:t>
            </a:r>
            <a:r>
              <a:rPr dirty="0"/>
              <a:t> 128×72 </a:t>
            </a:r>
            <a:r>
              <a:rPr dirty="0" err="1"/>
              <a:t>形成双尺寸支持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扩展上位机输入来源至全部五种类型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rPr dirty="0"/>
              <a:t>• </a:t>
            </a:r>
            <a:r>
              <a:rPr dirty="0" err="1"/>
              <a:t>采用「上位机统一缩放</a:t>
            </a:r>
            <a:r>
              <a:rPr dirty="0"/>
              <a:t> + </a:t>
            </a:r>
            <a:r>
              <a:rPr dirty="0" err="1"/>
              <a:t>FPGA硬件自适应」的混合方案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总体设计方案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核心思想：上位机统一缩放 + FPGA硬件自适应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10312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任意分辨率</a:t>
            </a:r>
            <a:br/>
            <a:r>
              <a:t>输入图片/摄像头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914400"/>
            <a:ext cx="2103120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PC上位机</a:t>
            </a:r>
            <a:br/>
            <a:r>
              <a:t>scale_frame_to_target()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914400"/>
            <a:ext cx="2103120" cy="731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UART串口</a:t>
            </a:r>
            <a:br/>
            <a:r>
              <a:t>帧传输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914400"/>
            <a:ext cx="2103120" cy="731520"/>
          </a:xfrm>
          <a:prstGeom prst="roundRect">
            <a:avLst/>
          </a:prstGeom>
          <a:solidFill>
            <a:srgbClr val="F5EE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ZYNQ PS</a:t>
            </a:r>
            <a:br/>
            <a:r>
              <a:t>接收+解析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12064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7680960" y="1234440"/>
            <a:ext cx="457200" cy="25400"/>
          </a:xfrm>
          <a:prstGeom prst="rightArrow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45920" y="2011680"/>
            <a:ext cx="2286000" cy="7315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E8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AXI BRAM</a:t>
            </a:r>
            <a:br/>
            <a:r>
              <a:t>图像区 0x0000~0xEFFF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011680"/>
            <a:ext cx="2286000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AXI BRAM</a:t>
            </a:r>
            <a:br/>
            <a:r>
              <a:t>控制字 0xF000~0xF00C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011680"/>
            <a:ext cx="2286000" cy="73152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PL端</a:t>
            </a:r>
            <a:br/>
            <a:r>
              <a:t>图像处理+HDMI输出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17520"/>
            <a:ext cx="11430000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核心设计思想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上位机通过 scale_frame_to_target() 将输入源缩放为 128×72 或 128×80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PS端接收到帧后自动识别尺寸，写入 image_cfg 控制字（0xF00C）通知PL端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PL端每帧开始前读取 image_cfg，动态设置 img_height（72/80）和 scale_y（10/9）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• 两种尺寸共用同一套逻辑，资源开销仅增加额外内存空间和几个多路选择器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上位机代码 — SIZE_PRESETS 与缩放函数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/>
              <a:t>定义两种目标输出尺寸，128x80相比128x72多了8行像素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适合展示不同宽高比的显示效果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SIZE_PRESETS = {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"128x72": (128, 72),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"128x80": (128, 80),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</a:t>
            </a:r>
            <a:r>
              <a:rPr dirty="0" err="1"/>
              <a:t>scale_frame_to_target</a:t>
            </a:r>
            <a:r>
              <a:rPr dirty="0"/>
              <a:t>() </a:t>
            </a:r>
            <a:r>
              <a:rPr dirty="0" err="1"/>
              <a:t>实现三种缩放模式</a:t>
            </a:r>
            <a:r>
              <a:rPr dirty="0"/>
              <a:t>：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fit-</a:t>
            </a:r>
            <a:r>
              <a:rPr dirty="0" err="1"/>
              <a:t>保持比例填黑边</a:t>
            </a:r>
            <a:r>
              <a:rPr dirty="0"/>
              <a:t> / stretch-</a:t>
            </a:r>
            <a:r>
              <a:rPr dirty="0" err="1"/>
              <a:t>直接变形拉伸</a:t>
            </a:r>
            <a:r>
              <a:rPr dirty="0"/>
              <a:t> / crop-</a:t>
            </a:r>
            <a:r>
              <a:rPr dirty="0" err="1"/>
              <a:t>放大后中心裁剪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scale_frame_to_target</a:t>
            </a:r>
            <a:r>
              <a:rPr dirty="0"/>
              <a:t>(</a:t>
            </a:r>
            <a:r>
              <a:rPr dirty="0" err="1"/>
              <a:t>frame_bgr</a:t>
            </a:r>
            <a:r>
              <a:rPr dirty="0"/>
              <a:t>, </a:t>
            </a:r>
            <a:r>
              <a:rPr dirty="0" err="1"/>
              <a:t>target_w</a:t>
            </a:r>
            <a:r>
              <a:rPr dirty="0"/>
              <a:t>, </a:t>
            </a:r>
            <a:r>
              <a:rPr dirty="0" err="1"/>
              <a:t>target_h</a:t>
            </a:r>
            <a:r>
              <a:rPr dirty="0"/>
              <a:t>, </a:t>
            </a:r>
            <a:r>
              <a:rPr dirty="0" err="1"/>
              <a:t>scale_mode</a:t>
            </a:r>
            <a:r>
              <a:rPr dirty="0"/>
              <a:t>="fit"):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src_h</a:t>
            </a:r>
            <a:r>
              <a:rPr dirty="0"/>
              <a:t>, </a:t>
            </a:r>
            <a:r>
              <a:rPr dirty="0" err="1"/>
              <a:t>src_w</a:t>
            </a:r>
            <a:r>
              <a:rPr dirty="0"/>
              <a:t> = </a:t>
            </a:r>
            <a:r>
              <a:rPr dirty="0" err="1"/>
              <a:t>frame_bgr.shape</a:t>
            </a:r>
            <a:r>
              <a:rPr dirty="0"/>
              <a:t>[:2]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scale_mode</a:t>
            </a:r>
            <a:r>
              <a:rPr dirty="0"/>
              <a:t> == "stretch":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return cv2.resize(</a:t>
            </a:r>
            <a:r>
              <a:rPr dirty="0" err="1"/>
              <a:t>frame_bgr</a:t>
            </a:r>
            <a:r>
              <a:rPr dirty="0"/>
              <a:t>, (</a:t>
            </a:r>
            <a:r>
              <a:rPr dirty="0" err="1"/>
              <a:t>target_w</a:t>
            </a:r>
            <a:r>
              <a:rPr dirty="0"/>
              <a:t>, </a:t>
            </a:r>
            <a:r>
              <a:rPr dirty="0" err="1"/>
              <a:t>target_h</a:t>
            </a:r>
            <a:r>
              <a:rPr dirty="0"/>
              <a:t>))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src_aspect</a:t>
            </a:r>
            <a:r>
              <a:rPr dirty="0"/>
              <a:t> = </a:t>
            </a:r>
            <a:r>
              <a:rPr dirty="0" err="1"/>
              <a:t>src_w</a:t>
            </a:r>
            <a:r>
              <a:rPr dirty="0"/>
              <a:t> / </a:t>
            </a:r>
            <a:r>
              <a:rPr dirty="0" err="1"/>
              <a:t>src_h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tgt_aspect</a:t>
            </a:r>
            <a:r>
              <a:rPr dirty="0"/>
              <a:t> = </a:t>
            </a:r>
            <a:r>
              <a:rPr dirty="0" err="1"/>
              <a:t>target_w</a:t>
            </a:r>
            <a:r>
              <a:rPr dirty="0"/>
              <a:t> / </a:t>
            </a:r>
            <a:r>
              <a:rPr dirty="0" err="1"/>
              <a:t>target_h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scale_mode</a:t>
            </a:r>
            <a:r>
              <a:rPr dirty="0"/>
              <a:t> == "crop":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# </a:t>
            </a:r>
            <a:r>
              <a:rPr dirty="0" err="1"/>
              <a:t>裁剪填充</a:t>
            </a:r>
            <a:r>
              <a:rPr dirty="0"/>
              <a:t>: </a:t>
            </a:r>
            <a:r>
              <a:rPr dirty="0" err="1"/>
              <a:t>先放大到至少覆盖目标尺寸，再中心裁剪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...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# "fit" (default): </a:t>
            </a:r>
            <a:r>
              <a:rPr dirty="0" err="1"/>
              <a:t>信箱模式，保持宽高比，黑边填充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上位机缩放策略说明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fit（信箱模式</a:t>
            </a:r>
            <a:r>
              <a:rPr dirty="0"/>
              <a:t>）】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保持宽高比缩放后居中，空白处填充黑色</a:t>
            </a:r>
            <a:r>
              <a:rPr dirty="0"/>
              <a:t>(0,0,0)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适用于16:9摄像头输入，图像不变形，可能有黑边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stretch（拉伸</a:t>
            </a:r>
            <a:r>
              <a:rPr dirty="0"/>
              <a:t>）】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直接缩放填满目标尺寸，可能产生纵横比畸变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适用于图片宽高比接近目标时，无黑边，画面填满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crop（裁剪</a:t>
            </a:r>
            <a:r>
              <a:rPr dirty="0"/>
              <a:t>）】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先放大到至少覆盖目标尺寸，再中心裁剪到目标尺寸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适用于需填满且可接受边缘裁切，无黑边无变形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PS端代码 — 尺寸宏定义（多尺寸支持）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 </a:t>
            </a:r>
            <a:r>
              <a:rPr sz="1100" dirty="0" err="1">
                <a:solidFill>
                  <a:srgbClr val="D4D4D4"/>
                </a:solidFill>
                <a:latin typeface="Consolas"/>
              </a:rPr>
              <a:t>将硬编码的单一尺寸改为支持两种尺寸</a:t>
            </a:r>
            <a:r>
              <a:rPr sz="1100" dirty="0">
                <a:solidFill>
                  <a:srgbClr val="D4D4D4"/>
                </a:solidFill>
                <a:latin typeface="Consolas"/>
              </a:rPr>
              <a:t>，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</a:t>
            </a:r>
            <a:r>
              <a:rPr dirty="0" err="1"/>
              <a:t>并用</a:t>
            </a:r>
            <a:r>
              <a:rPr dirty="0"/>
              <a:t> IMG_WIDTH_MAX/IMG_HEIGHT_MAX </a:t>
            </a:r>
            <a:r>
              <a:rPr dirty="0" err="1"/>
              <a:t>做内存边界检查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IMG_WIDTH 128U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IMG_HEIGHT 72U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IMG_WIDTH_72 128U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IMG_HEIGHT_72 72U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IMG_WIDTH_80 128U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IMG_HEIGHT_80 80U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IMG_WIDTH_MAX 128U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IMG_HEIGHT_MAX 80U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IMG_PIXELS_MAX (IMG_WIDTH_MAX * IMG_HEIGHT_MAX)  /* 10240 */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static u16 </a:t>
            </a:r>
            <a:r>
              <a:rPr dirty="0" err="1"/>
              <a:t>active_width</a:t>
            </a:r>
            <a:r>
              <a:rPr dirty="0"/>
              <a:t> = IMG_WIDTH_DEFAULT;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static u16 </a:t>
            </a:r>
            <a:r>
              <a:rPr dirty="0" err="1"/>
              <a:t>active_height</a:t>
            </a:r>
            <a:r>
              <a:rPr dirty="0"/>
              <a:t> = IMG_HEIGHT_DEFAULT;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PS端代码 — 控制字地址迁移（0x9000 → 0xF000）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sz="1100" dirty="0">
                <a:solidFill>
                  <a:srgbClr val="D4D4D4"/>
                </a:solidFill>
                <a:latin typeface="Consolas"/>
              </a:rPr>
              <a:t>128x80图像需40,960字节，原0x0000~0x8FFF（36KB）空间不足，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将控制字从0x9000移到0xF000，为更大图像留出0x0000~0xEFFF（60KB）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CTRL_MODE_ADDR (FRAMEBUFFER_BASEADDR + 0x9000U)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CTRL_THRESHOLD_ADDR (FRAMEBUFFER_BASEADDR + 0x9004U)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CTRL_OVERLAY_ADDR (FRAMEBUFFER_BASEADDR + 0x9008U)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CTRL_MODE_ADDR (FRAMEBUFFER_BASEADDR + 0xF000U)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CTRL_THRESHOLD_ADDR (FRAMEBUFFER_BASEADDR + 0xF004U)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CTRL_OVERLAY_ADDR (FRAMEBUFFER_BASEADDR + 0xF008U)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CTRL_IMAGE_CFG_ADDR (FRAMEBUFFER_BASEADDR + 0xF00CU)  // NEW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IMAGE_CFG_128x72 0U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#define IMAGE_CFG_128x80 1U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PL端代码 — 动态尺寸参数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dirty="0" err="1"/>
              <a:t>将固定常量改为运行时变量，根据image_cfg动态切换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修改前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IMG_HEIGHT = 72;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SCALE_Y = V_ACTIVE / IMG_HEIGHT;  // 720/72 = 10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修改后</a:t>
            </a:r>
            <a:r>
              <a:rPr dirty="0"/>
              <a:t>】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IMG_HEIGHT_72 = 7'd72;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IMG_HEIGHT_80 = 7'd80;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IMG_PIXELS_MAX = 10240;  // 128*80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reg [6:0] </a:t>
            </a:r>
            <a:r>
              <a:rPr dirty="0" err="1"/>
              <a:t>img_height</a:t>
            </a:r>
            <a:r>
              <a:rPr dirty="0"/>
              <a:t>;  // 72 or 80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reg [3:0] </a:t>
            </a:r>
            <a:r>
              <a:rPr dirty="0" err="1"/>
              <a:t>scale_y</a:t>
            </a:r>
            <a:r>
              <a:rPr dirty="0"/>
              <a:t>;    // 10 or 9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CTRL_IMAGE_CFG_ADDR = 32'h0000_F00C;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IMAGE_CFG_128x72 = 2'd0;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 err="1"/>
              <a:t>localparam</a:t>
            </a:r>
            <a:r>
              <a:rPr dirty="0"/>
              <a:t> IMAGE_CFG_128x80 = 2'd1;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PL端代码 — image_cfg 解析与动态切换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11430000" cy="548640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E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6424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sz="1100" dirty="0" err="1">
                <a:solidFill>
                  <a:srgbClr val="D4D4D4"/>
                </a:solidFill>
                <a:latin typeface="Consolas"/>
              </a:rPr>
              <a:t>每帧开始前从BRAM</a:t>
            </a:r>
            <a:r>
              <a:rPr sz="1100" dirty="0">
                <a:solidFill>
                  <a:srgbClr val="D4D4D4"/>
                </a:solidFill>
                <a:latin typeface="Consolas"/>
              </a:rPr>
              <a:t> 0xF00C读取image_cfg，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</a:t>
            </a:r>
            <a:r>
              <a:rPr dirty="0" err="1"/>
              <a:t>根据值设置img_height和scale_y，实现同一套硬件适配两种尺寸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SCAN_CTRL_IMG_WAIT2: begin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image_cfg</a:t>
            </a:r>
            <a:r>
              <a:rPr dirty="0"/>
              <a:t> &lt;= </a:t>
            </a:r>
            <a:r>
              <a:rPr dirty="0" err="1"/>
              <a:t>bram_dout</a:t>
            </a:r>
            <a:r>
              <a:rPr dirty="0"/>
              <a:t>[1:0];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    if (</a:t>
            </a:r>
            <a:r>
              <a:rPr dirty="0" err="1"/>
              <a:t>bram_dout</a:t>
            </a:r>
            <a:r>
              <a:rPr dirty="0"/>
              <a:t>[1:0] == IMAGE_CFG_128x80) begin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img_height</a:t>
            </a:r>
            <a:r>
              <a:rPr dirty="0"/>
              <a:t> &lt;= IMG_HEIGHT_80;  // 80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scale_y</a:t>
            </a:r>
            <a:r>
              <a:rPr dirty="0"/>
              <a:t> &lt;= 4'd9;  // 720/80 = 9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    end else begin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img_height</a:t>
            </a:r>
            <a:r>
              <a:rPr dirty="0"/>
              <a:t> &lt;= IMG_HEIGHT_72;  // 72 (default)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scale_y</a:t>
            </a:r>
            <a:r>
              <a:rPr dirty="0"/>
              <a:t> &lt;= 4'd10;  // 720/72 = 10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    end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scan_state</a:t>
            </a:r>
            <a:r>
              <a:rPr dirty="0"/>
              <a:t> &lt;= SCAN_RUN;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scan_frame_start</a:t>
            </a:r>
            <a:r>
              <a:rPr dirty="0"/>
              <a:t> &lt;= 1'b1;</a:t>
            </a:r>
          </a:p>
          <a:p>
            <a:pPr>
              <a:spcAft>
                <a:spcPts val="200"/>
              </a:spcAft>
              <a:defRPr sz="1100">
                <a:solidFill>
                  <a:srgbClr val="CC99CD"/>
                </a:solidFill>
                <a:latin typeface="Consolas"/>
              </a:defRPr>
            </a:pPr>
            <a:r>
              <a:rPr dirty="0"/>
              <a:t>end</a:t>
            </a:r>
          </a:p>
          <a:p>
            <a:pPr>
              <a:spcAft>
                <a:spcPts val="2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HDMI坐标映射】assign</a:t>
            </a:r>
            <a:r>
              <a:rPr dirty="0"/>
              <a:t> </a:t>
            </a:r>
            <a:r>
              <a:rPr dirty="0" err="1"/>
              <a:t>disp_y</a:t>
            </a:r>
            <a:r>
              <a:rPr dirty="0"/>
              <a:t> = </a:t>
            </a:r>
            <a:r>
              <a:rPr dirty="0" err="1"/>
              <a:t>active_y</a:t>
            </a:r>
            <a:r>
              <a:rPr dirty="0"/>
              <a:t> / </a:t>
            </a:r>
            <a:r>
              <a:rPr dirty="0" err="1"/>
              <a:t>scale_y</a:t>
            </a:r>
            <a:r>
              <a:rPr dirty="0"/>
              <a:t>;</a:t>
            </a:r>
          </a:p>
          <a:p>
            <a:pPr>
              <a:spcAft>
                <a:spcPts val="2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rPr dirty="0"/>
              <a:t>【</a:t>
            </a:r>
            <a:r>
              <a:rPr dirty="0" err="1"/>
              <a:t>scan_last判断】assign</a:t>
            </a:r>
            <a:r>
              <a:rPr dirty="0"/>
              <a:t> </a:t>
            </a:r>
            <a:r>
              <a:rPr dirty="0" err="1"/>
              <a:t>scan_last</a:t>
            </a:r>
            <a:r>
              <a:rPr dirty="0"/>
              <a:t> = (</a:t>
            </a:r>
            <a:r>
              <a:rPr dirty="0" err="1"/>
              <a:t>scan_x</a:t>
            </a:r>
            <a:r>
              <a:rPr dirty="0"/>
              <a:t>==127) &amp;&amp; (</a:t>
            </a:r>
            <a:r>
              <a:rPr dirty="0" err="1"/>
              <a:t>scan_y</a:t>
            </a:r>
            <a:r>
              <a:rPr dirty="0"/>
              <a:t>==img_height-1);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BRAM地址布局对比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04"/>
                </a:solidFill>
              </a:defRPr>
            </a:pPr>
            <a:r>
              <a:t>修改前（原sobel_05）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图像缓冲区: 0x0000 ~ 0x8FFF (36KB)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display_mode: 0x9000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threshold: 0x9004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overlay_enable: 0x9008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822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修改后（综合扩展）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图像缓冲区: 0x0000 ~ 0xEFFF (60KB)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display_mode: 0xF000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threshold: 0xF004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overlay_enable: 0xF008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• image_cfg: 0xF00C (新增)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822960"/>
            <a:ext cx="25400" cy="53035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关键计算公式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460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PS端写入偏移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offset = ((y * </a:t>
            </a:r>
            <a:r>
              <a:rPr dirty="0" err="1"/>
              <a:t>active_width</a:t>
            </a:r>
            <a:r>
              <a:rPr dirty="0"/>
              <a:t>) + x) &lt;&lt; 2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PL端读取地址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bram_addr</a:t>
            </a:r>
            <a:r>
              <a:rPr dirty="0"/>
              <a:t> = (</a:t>
            </a:r>
            <a:r>
              <a:rPr dirty="0" err="1"/>
              <a:t>scan_y</a:t>
            </a:r>
            <a:r>
              <a:rPr dirty="0"/>
              <a:t> * 128 + </a:t>
            </a:r>
            <a:r>
              <a:rPr dirty="0" err="1"/>
              <a:t>scan_x</a:t>
            </a:r>
            <a:r>
              <a:rPr dirty="0"/>
              <a:t>) &lt;&lt; 2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SCALE_Y计算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</a:t>
            </a:r>
            <a:r>
              <a:rPr dirty="0" err="1"/>
              <a:t>scale_y</a:t>
            </a:r>
            <a:r>
              <a:rPr dirty="0"/>
              <a:t> = 720 / 72 = 10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</a:t>
            </a:r>
            <a:r>
              <a:rPr dirty="0" err="1"/>
              <a:t>scale_y</a:t>
            </a:r>
            <a:r>
              <a:rPr dirty="0"/>
              <a:t> = 720 / 80 = 9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像素总数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9,216 </a:t>
            </a:r>
            <a:r>
              <a:rPr dirty="0" err="1"/>
              <a:t>像素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10,240 </a:t>
            </a:r>
            <a:r>
              <a:rPr dirty="0" err="1"/>
              <a:t>像素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图像占用BRAM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128×72: 36,864 </a:t>
            </a:r>
            <a:r>
              <a:rPr dirty="0" err="1"/>
              <a:t>字节</a:t>
            </a:r>
            <a:r>
              <a:rPr dirty="0"/>
              <a:t> (0x9000)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128×80: 40,960 </a:t>
            </a:r>
            <a:r>
              <a:rPr dirty="0" err="1"/>
              <a:t>字节</a:t>
            </a:r>
            <a:r>
              <a:rPr dirty="0"/>
              <a:t> (0xA000)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仿真验证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28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仿真模型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display_control_model.v：控制逻辑行为级抽象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display_control_model_tb.v：12个自动化验证用例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验证项</a:t>
            </a:r>
            <a:r>
              <a:rPr dirty="0"/>
              <a:t>】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image_cfg尺寸切换（72↔80）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像素坐标映射（两种尺寸</a:t>
            </a:r>
            <a:r>
              <a:rPr dirty="0"/>
              <a:t>）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四种显示模式（original</a:t>
            </a:r>
            <a:r>
              <a:rPr dirty="0"/>
              <a:t>/gray/edge/overlay）</a:t>
            </a:r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阈值控制与临界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</a:t>
            </a:r>
            <a:r>
              <a:rPr dirty="0" err="1"/>
              <a:t>叠加开关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rPr dirty="0"/>
              <a:t>  128×80全链路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rPr dirty="0"/>
              <a:t>【</a:t>
            </a:r>
            <a:r>
              <a:rPr dirty="0" err="1"/>
              <a:t>结果】ALL</a:t>
            </a:r>
            <a:r>
              <a:rPr dirty="0"/>
              <a:t> 12 TESTS PASSED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第一张图片分辨率对比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52" y="868680"/>
            <a:ext cx="3090975" cy="41147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128×72</a:t>
            </a:r>
          </a:p>
        </p:txBody>
      </p:sp>
      <p:pic>
        <p:nvPicPr>
          <p:cNvPr id="8" name="Picture 7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150" y="868680"/>
            <a:ext cx="30813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128×80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第一张图片缩放策略对比</a:t>
            </a:r>
          </a:p>
        </p:txBody>
      </p:sp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873" y="868680"/>
            <a:ext cx="3090733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Crop</a:t>
            </a:r>
          </a:p>
        </p:txBody>
      </p:sp>
      <p:pic>
        <p:nvPicPr>
          <p:cNvPr id="8" name="Picture 7" descr="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985" y="868680"/>
            <a:ext cx="309771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Stretch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第二张图片分辨率对比</a:t>
            </a:r>
          </a:p>
        </p:txBody>
      </p:sp>
      <p:pic>
        <p:nvPicPr>
          <p:cNvPr id="6" name="Picture 5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983" y="868680"/>
            <a:ext cx="308851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128×72</a:t>
            </a:r>
          </a:p>
        </p:txBody>
      </p:sp>
      <p:pic>
        <p:nvPicPr>
          <p:cNvPr id="8" name="Picture 7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68680"/>
            <a:ext cx="5029200" cy="377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128×80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实验结果 — 第二张图片缩放策略对比</a:t>
            </a:r>
          </a:p>
        </p:txBody>
      </p:sp>
      <p:pic>
        <p:nvPicPr>
          <p:cNvPr id="6" name="Picture 5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5029200" cy="3774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85D04"/>
                </a:solidFill>
              </a:defRPr>
            </a:pPr>
            <a:r>
              <a:t>Crop</a:t>
            </a:r>
          </a:p>
        </p:txBody>
      </p:sp>
      <p:pic>
        <p:nvPicPr>
          <p:cNvPr id="8" name="Picture 7" descr="image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68680"/>
            <a:ext cx="5029200" cy="37748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5029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Stretch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修改文件汇总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领域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核心改动</a:t>
                      </a:r>
                    </a:p>
                  </a:txBody>
                  <a:tcPr anchor="ctr">
                    <a:solidFill>
                      <a:srgbClr val="2E86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camera_uart_sender.py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SIZE_PRESETS, scale_frame_to_target(), parse_custom_size()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camera_uart_gui.py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尺寸预设UI, 缩放模式选择, 图像目录浏览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main.c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多尺寸支持, 控制字地址移至0xF000, image_cfg写入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hdmi_bram_sobel_display.v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image_cfg读取, img_height/scale_y动态切换, mem扩容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sobel_core.v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img_height输入端口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display_control_model.v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控制逻辑行为模型（仿真用）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display_control_model_tb.v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12个自动化验证用例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团队成员分工与贡献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18095"/>
              </p:ext>
            </p:extLst>
          </p:nvPr>
        </p:nvGraphicFramePr>
        <p:xfrm>
          <a:off x="365759" y="1189703"/>
          <a:ext cx="11649260" cy="478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6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成员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主要职责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具体工作内容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黄煜盛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扩展实验开发、PL端联调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/>
                        </a:rPr>
                        <a:t>负责扩展实验02、03、05的代码编写与调试；综合拓展任务中PL端代码修改（hdmi_bram_sobel_display.v、sobel_core.v动态尺寸参数与image_cfg解析）；PL端与PS端联调验证；撰写实验报告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黎嘉亮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扩展实验开发、PS端开发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/>
                        </a:rPr>
                        <a:t>负责扩展实验00、01、04的代码编写与调试；综合拓展任务中PS端代码修改（main.c多尺寸支持、控制字地址迁移、image_cfg写入）；BRAM地址布局规划；撰写仿真报告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肖任科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微软雅黑"/>
                        </a:rPr>
                        <a:t>上位机开发</a:t>
                      </a:r>
                      <a:r>
                        <a:rPr sz="1100" dirty="0">
                          <a:latin typeface="微软雅黑"/>
                        </a:rPr>
                        <a:t>、</a:t>
                      </a:r>
                      <a:r>
                        <a:rPr lang="pt-BR" altLang="zh-CN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PPT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制作</a:t>
                      </a:r>
                      <a:endParaRPr sz="11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latin typeface="+mj-ea"/>
                          <a:ea typeface="+mj-ea"/>
                        </a:rPr>
                        <a:t>负责综合拓展任务中上位机代码修改（camera_uart_sender.py缩放函数、camera_uart_gui.py尺寸预设UI与缩放策略选择）；</a:t>
                      </a:r>
                      <a:r>
                        <a:rPr sz="1100" b="0" dirty="0" err="1">
                          <a:latin typeface="+mj-ea"/>
                          <a:ea typeface="+mj-ea"/>
                        </a:rPr>
                        <a:t>五种输入来源扩展实现；</a:t>
                      </a:r>
                      <a:r>
                        <a:rPr lang="en-US" altLang="zh-CN" sz="1100" b="0" dirty="0" err="1">
                          <a:latin typeface="黑体" panose="02010609060101010101" pitchFamily="49" charset="-122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PPT</a:t>
                      </a:r>
                      <a:r>
                        <a:rPr lang="zh-CN" altLang="en-US" sz="1100" b="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alibri" panose="020F0502020204030204" pitchFamily="34" charset="0"/>
                        </a:rPr>
                        <a:t>制作与汇报材料整理</a:t>
                      </a:r>
                      <a:endParaRPr sz="1100" b="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76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</a:rPr>
                        <a:t>陈智恒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微软雅黑"/>
                        </a:rPr>
                        <a:t>仿真验证</a:t>
                      </a:r>
                      <a:r>
                        <a:rPr sz="1100" dirty="0">
                          <a:latin typeface="微软雅黑"/>
                        </a:rPr>
                        <a:t>、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视频制作</a:t>
                      </a:r>
                      <a:r>
                        <a:rPr sz="1100" dirty="0">
                          <a:latin typeface="微软雅黑"/>
                        </a:rPr>
                        <a:t>、</a:t>
                      </a:r>
                      <a:r>
                        <a:rPr sz="1100" dirty="0" err="1">
                          <a:latin typeface="微软雅黑"/>
                        </a:rPr>
                        <a:t>时序分析</a:t>
                      </a:r>
                      <a:endParaRPr sz="1100" dirty="0"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latin typeface="+mn-ea"/>
                          <a:ea typeface="+mn-ea"/>
                        </a:rPr>
                        <a:t>负责display_control_model.v行为级模型与display_control_model_tb.v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 12个自动化验证用例编写；综合拓展Vivado时序分析（Setup/Hold/Pulse </a:t>
                      </a:r>
                      <a:r>
                        <a:rPr sz="1100" dirty="0" err="1">
                          <a:latin typeface="+mn-ea"/>
                          <a:ea typeface="+mn-ea"/>
                        </a:rPr>
                        <a:t>Width）与资源占用统计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；</a:t>
                      </a:r>
                      <a:r>
                        <a:rPr lang="zh-CN" altLang="en-US" sz="1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实验演示视频剪辑与后期制作</a:t>
                      </a:r>
                      <a:endParaRPr sz="11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latin typeface="微软雅黑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09728" cy="6400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t>【核心设计思想】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上位机统一缩放 + FPGA硬件自适应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2E86DE"/>
                </a:solidFill>
              </a:defRPr>
            </a:pPr>
            <a:r>
              <a:t>【方案优点】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上位机处理复杂度集中在缩放算法（fit/stretch/crop三种策略）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FPGA硬件只需根据一个控制字切换两个预定义的参数组合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不需要运行时动态重配置整个流水线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• 两种尺寸共用同一套逻辑，资源开销仅增加额外内存空间和几个多路选择器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3108960"/>
            <a:ext cx="9448495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0A4AE"/>
                </a:solidFill>
              </a:defRPr>
            </a:pPr>
            <a:r>
              <a:t>欢迎提问与建议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1633</Words>
  <Application>Microsoft Office PowerPoint</Application>
  <PresentationFormat>宽屏</PresentationFormat>
  <Paragraphs>264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黑体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 King</cp:lastModifiedBy>
  <cp:revision>27</cp:revision>
  <dcterms:created xsi:type="dcterms:W3CDTF">2013-01-27T09:14:16Z</dcterms:created>
  <dcterms:modified xsi:type="dcterms:W3CDTF">2026-06-24T14:10:01Z</dcterms:modified>
  <cp:category/>
</cp:coreProperties>
</file>